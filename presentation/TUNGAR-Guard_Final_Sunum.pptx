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v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39572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TUNGAR AI  ·  Takım ID 1002329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0" y="2779776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TUNGAR-Guard — Video Analiz ve Karar Destek Sistemi  ·  3. Senaryo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ntent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"/>
            <a:ext cx="10725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VE ÇÖZÜM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50292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Kameralar İzliyor, Biz Anında Anlamlandırıyoruz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31520" y="1243584"/>
            <a:ext cx="6720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sahada onlarca kamera saniyede otuz kare görüntü üretirken, bunu izleyen bir operatörün gözü ancak birkaç ekrana yetişebilir. Şartnamenin bize çizdiği senaryo bu açığı özetliyor: bir forklift deviriliyor, bir çalışan yerde hareketsiz kalıyor, saniyeler kayboluyor. TUNGAR-Guard işte tam bu saniyelerde devreye giriyor — gördüğünü anında Türkçe bir özete ve uygulanabilir bir aksiyon önerisine dönüştürüyor.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635240" y="1243584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45552" y="1389888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ŞARTNAME ÖRNEĞİ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45552" y="1700784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4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00:15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Forklift devrildi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4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00:20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yerde hareketsiz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935224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6305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93522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(YOLOv8)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33088" y="2935224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34256" y="2935224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16305A"/>
          </a:solidFill>
          <a:ln/>
        </p:spPr>
      </p:sp>
      <p:sp>
        <p:nvSpPr>
          <p:cNvPr id="13" name="Text 10"/>
          <p:cNvSpPr/>
          <p:nvPr/>
        </p:nvSpPr>
        <p:spPr>
          <a:xfrm>
            <a:off x="4334256" y="293522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Yorumlama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(Görüntü-Dil Modeli)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35824" y="2935224"/>
            <a:ext cx="182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936992" y="2935224"/>
            <a:ext cx="3383280" cy="658368"/>
          </a:xfrm>
          <a:prstGeom prst="roundRect">
            <a:avLst>
              <a:gd name="adj" fmla="val 13889"/>
            </a:avLst>
          </a:prstGeom>
          <a:solidFill>
            <a:srgbClr val="B4090A"/>
          </a:solidFill>
          <a:ln/>
        </p:spPr>
      </p:sp>
      <p:sp>
        <p:nvSpPr>
          <p:cNvPr id="16" name="Text 13"/>
          <p:cNvSpPr/>
          <p:nvPr/>
        </p:nvSpPr>
        <p:spPr>
          <a:xfrm>
            <a:off x="7936992" y="293522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Zinciri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(Üç Ajan)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3703320"/>
            <a:ext cx="10725912" cy="0"/>
          </a:xfrm>
          <a:prstGeom prst="line">
            <a:avLst/>
          </a:prstGeom>
          <a:noFill/>
          <a:ln w="12700">
            <a:solidFill>
              <a:srgbClr val="DE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83133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VİZYONUN ARKASINDAKİ EKİP · TUNGAR AI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31520" y="4105656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Aslıhan Zehra Dönmez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96112" y="4672584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Kaptan — Görüntü İşleme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6112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3438144" y="4105656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02736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Ömer Oruç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602736" y="4672584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02736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</a:t>
            </a:r>
            <a:endParaRPr lang="en-US" sz="930" dirty="0"/>
          </a:p>
        </p:txBody>
      </p:sp>
      <p:sp>
        <p:nvSpPr>
          <p:cNvPr id="27" name="Shape 24"/>
          <p:cNvSpPr/>
          <p:nvPr/>
        </p:nvSpPr>
        <p:spPr>
          <a:xfrm>
            <a:off x="6144768" y="4105656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Burcu Bebek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309360" y="4672584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Müh. ve Çıktı Yönetimi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309360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İlköğretim Matematik Öğretmenliği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8851392" y="4105656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15984" y="42245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Ecem Nehir Kacar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015984" y="4672584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ve Doğrulama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015984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10561320" y="5623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ntent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"/>
            <a:ext cx="10725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DİKKAT KATMANI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50292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Hızlı Bir Göz, Sonra Derin Bir Akıl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31520" y="1243584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insan gözü de önce fark eder, sonra düşünür — sistemimizi tam olarak bu mantıkla kurduk. Videodaki her kareyi doğrudan büyük bir görüntü-dil modeline göndermek, sistemi gerçek zamanlı çalışamaz hale getirirdi. Bu yüzden YOLOv8'i, modelin ilgilenmesi gereken anları önceden seçen bir dikkat katmanı olarak kullandık: YOLOv8 hiçbir karar vermez, yalnızca "şuraya bakmalısın" der — olayın ne olduğuna ve ne kadar riskli olduğuna her zaman görüntü-dil modeli karar verir.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231136"/>
            <a:ext cx="3401568" cy="1783080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K1 · Sınıf Bazlı Tetikleme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852928"/>
            <a:ext cx="30358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Baretini takmamış bir çalışan ya da bir duman gibi, önceden tanımladığımız tehlikeli sınıflardan biri görüldüğünde devreye girer.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52544" y="2231136"/>
            <a:ext cx="3401568" cy="1783080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5424" y="2368296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K2 · Etkileşim Sinyali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35424" y="2852928"/>
            <a:ext cx="30358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kişiyle bir aracın kutuları birbirine çok yaklaştığında ya da çakıştığında tetiklenir; tek bir nesneden değil, nesneler arasındaki ilişkiden doğan riskleri yakalar.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73568" y="2231136"/>
            <a:ext cx="3401568" cy="1783080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56448" y="2368296"/>
            <a:ext cx="30358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 · Periyodik Tarama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56448" y="2852928"/>
            <a:ext cx="303580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hiçbir şey tespit etmese bile sahneyi belirli aralıklarla kendiliğinden tarar; böylece daha önce hiç etiketlemediğimiz durumları da gözden kaçırmayız.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4197096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kazandık? 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Görüntü-dil modeline yalnızca gerçekten şüpheli anlar gönderiliyor; bu da gereksiz istek sayısını büyük ölçüde azaltıp sistemi gerçek zamana yakın tutuyor. Daha da önemlisi, YOLOv8'in yalnızca kendisine öğrettiğimiz tehlikeleri görebilme sınırını, periyodik tarama kanalıyla aşmış olduk.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61320" y="5623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ntent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"/>
            <a:ext cx="10725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KARAR KATMANI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50292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Klipten Saniyeler İçinde Türkçe Karara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31520" y="1243584"/>
            <a:ext cx="107259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b="1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tek kare değil, 12 saniyelik bir pencere?  </a:t>
            </a:r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katmanının işaret ettiği an, tetikleme zamanının 4 saniye öncesini ve 8 saniye sonrasını kapsayan 12 saniyelik bir klip olarak kesilir. Çünkü "yerde hareketsiz kişi" gibi bir durumu tek bir kareden anlayamazsınız — hareketsizlik zamana yayılan bir olgudur. Bu pencere sayesinde model, olayın yalnızca anını değil; başlangıcını, gelişimini ve sonucunu birlikte görüp gerçek bir hikâye kurabiliyor.</a:t>
            </a:r>
            <a:endParaRPr lang="en-US" sz="1130" dirty="0"/>
          </a:p>
        </p:txBody>
      </p:sp>
      <p:sp>
        <p:nvSpPr>
          <p:cNvPr id="6" name="Shape 3"/>
          <p:cNvSpPr/>
          <p:nvPr/>
        </p:nvSpPr>
        <p:spPr>
          <a:xfrm>
            <a:off x="731520" y="2414016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4140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Tetikleme Anı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18688" y="241401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01568" y="2414016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/>
        </p:spPr>
      </p:sp>
      <p:sp>
        <p:nvSpPr>
          <p:cNvPr id="10" name="Text 7"/>
          <p:cNvSpPr/>
          <p:nvPr/>
        </p:nvSpPr>
        <p:spPr>
          <a:xfrm>
            <a:off x="3401568" y="24140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-4sn  /  +8sn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88736" y="241401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71616" y="2414016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16305A"/>
          </a:solidFill>
          <a:ln/>
        </p:spPr>
      </p:sp>
      <p:sp>
        <p:nvSpPr>
          <p:cNvPr id="13" name="Text 10"/>
          <p:cNvSpPr/>
          <p:nvPr/>
        </p:nvSpPr>
        <p:spPr>
          <a:xfrm>
            <a:off x="6071616" y="24140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Kısıtlı İstek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58784" y="2414016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41664" y="2414016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16" name="Text 13"/>
          <p:cNvSpPr/>
          <p:nvPr/>
        </p:nvSpPr>
        <p:spPr>
          <a:xfrm>
            <a:off x="8741664" y="2414016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JSON Rapor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3099816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Modelden dönen sonuç tek başına yeterli görülmez; üç ajanlı bir karar zincirinden geçirilerek doğrulanır: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" y="3483864"/>
            <a:ext cx="3401568" cy="1417320"/>
          </a:xfrm>
          <a:prstGeom prst="roundRect">
            <a:avLst>
              <a:gd name="adj" fmla="val 4516"/>
            </a:avLst>
          </a:prstGeom>
          <a:solidFill>
            <a:srgbClr val="FBEAEA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360273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AnalysisAgent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96112" y="3895344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 veriyi yorumlayarak olayın senaryosunu çıkarır ve bir güven skoru üretir.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4352544" y="3483864"/>
            <a:ext cx="3401568" cy="1417320"/>
          </a:xfrm>
          <a:prstGeom prst="roundRect">
            <a:avLst>
              <a:gd name="adj" fmla="val 4516"/>
            </a:avLst>
          </a:prstGeom>
          <a:solidFill>
            <a:srgbClr val="FBEAEA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17136" y="360273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DecisionAgent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17136" y="3895344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Senaryoya ve güven skoruna bakarak Onay, Manuel İnceleme ya da Red kararlarından birini verir; güven düşükse kendiliğinden onay vermez.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7973568" y="3483864"/>
            <a:ext cx="3401568" cy="1417320"/>
          </a:xfrm>
          <a:prstGeom prst="roundRect">
            <a:avLst>
              <a:gd name="adj" fmla="val 4516"/>
            </a:avLst>
          </a:prstGeom>
          <a:solidFill>
            <a:srgbClr val="FBEAEA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360273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ValidationAgent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138160" y="3895344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Verilen kararın güvenlik kurallarıyla çelişip çelişmediğini denetler; yüksek riskli bir olay hiçbir zaman doğrudan "Onay" ile kapanamaz.</a:t>
            </a:r>
            <a:endParaRPr lang="en-US" sz="970" dirty="0"/>
          </a:p>
        </p:txBody>
      </p:sp>
      <p:sp>
        <p:nvSpPr>
          <p:cNvPr id="27" name="Text 24"/>
          <p:cNvSpPr/>
          <p:nvPr/>
        </p:nvSpPr>
        <p:spPr>
          <a:xfrm>
            <a:off x="731520" y="505663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bağlantısı kesildiğinde sistem otomatik olarak yedek moda geçer; veritabanı ve ajan zinciri çalışmaya devam eder, sistem hiçbir zaman çökmez.</a:t>
            </a:r>
            <a:endParaRPr lang="en-US" sz="1030" dirty="0"/>
          </a:p>
        </p:txBody>
      </p:sp>
      <p:sp>
        <p:nvSpPr>
          <p:cNvPr id="28" name="Text 25"/>
          <p:cNvSpPr/>
          <p:nvPr/>
        </p:nvSpPr>
        <p:spPr>
          <a:xfrm>
            <a:off x="10561320" y="5623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ntent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"/>
            <a:ext cx="10725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ÇIKTI, ARAÇLAR VE OTONOMİ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50292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Sadece Görmüyor, Açıklıyor, Harekete Geçiyor ve Konuşuyor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31520" y="1380744"/>
            <a:ext cx="3401568" cy="2880360"/>
          </a:xfrm>
          <a:prstGeom prst="roundRect">
            <a:avLst>
              <a:gd name="adj" fmla="val 2540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1581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4752" y="16002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Yapılandırılmış Çıktı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32688" y="2167128"/>
            <a:ext cx="2999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çıktısı önceden tanımlanmış bir şemaya bağlıdır; modelin bu şemanın dışına çıkması mümkün değildir. Her olayın zaman aralığı, riski, kanıt kareleri, gerekçesi ve güven skoru ayrı ayrı kayıt altına alınır.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2544" y="1380744"/>
            <a:ext cx="3401568" cy="2880360"/>
          </a:xfrm>
          <a:prstGeom prst="roundRect">
            <a:avLst>
              <a:gd name="adj" fmla="val 2540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1581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65776" y="16002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Beş Yerel Araç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53712" y="2167128"/>
            <a:ext cx="2999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zinciri gerektiğinde alarm tetikleme, sistem mesajı kaydetme, acil ekip çağrısı simülasyonu, geçmiş olay sorgulama ve olay detayı getirme araçlarından birini çağırır. Bu araçların tamamı yerelde çalışır, hiçbiri internete çıkmaz.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73568" y="1380744"/>
            <a:ext cx="3401568" cy="2880360"/>
          </a:xfrm>
          <a:prstGeom prst="roundRect">
            <a:avLst>
              <a:gd name="adj" fmla="val 2540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74736" y="1581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0" y="16002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Otonomi ve Diyalog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74736" y="2167128"/>
            <a:ext cx="2999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 sohbet ekranından soru sorduğunda sistem, o oturuma ait geçmiş olayları veritabanından çekip yanıtını buna dayandırır; elindeki verinin dışında hiçbir şey uydurmaz. Güven düşük olduğunda kararı kendiliğinden vermez, operatöre danışır.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517136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üç bileşen birlikte, sistemin yalnızca doğru çalışmasını değil; kararlarının insan tarafından denetlenebilir, açıklanabilir ve güvenilir olmasını da sağlıyor.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561320" y="5623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ntent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"/>
            <a:ext cx="10725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SONUÇLARIMIZ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50292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İşte Kanıtı: Ölçtüğümüz Gerçek Sonuçlar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10725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değerler kurgu değil; test videomuzu sisteme yükleyip Kontrol Merkezi panelinden okuduğumuz gerçek ölçümlerdir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BEAEA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9659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0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88920" y="20939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Güven Skoru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88920" y="245973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kendi tahminine ne kadar emin olduğunu gösteren değer.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BEAEA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9659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09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%100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275320" y="20939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Başarı Oranı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75320" y="245973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ajanlı karar zinciri, koşumda hatasız tamamlandı.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731520" y="3429000"/>
            <a:ext cx="3422904" cy="1508760"/>
          </a:xfrm>
          <a:prstGeom prst="roundRect">
            <a:avLst>
              <a:gd name="adj" fmla="val 4242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575304"/>
            <a:ext cx="3057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Şema Geçerliliği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3840480"/>
            <a:ext cx="3057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%100.0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233672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döndürdüğü yanıtların, beklediğimiz JSON yapısına tam uyma oranı (2 çağrı üzerinden).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383024" y="3429000"/>
            <a:ext cx="3422904" cy="1508760"/>
          </a:xfrm>
          <a:prstGeom prst="roundRect">
            <a:avLst>
              <a:gd name="adj" fmla="val 4242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65904" y="3575304"/>
            <a:ext cx="3057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Gecikme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65904" y="3840480"/>
            <a:ext cx="3057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p50: 23.0 sn  ·  p90: 29.1 sn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65904" y="4233672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yüklendikten Türkçe rapor çıkana kadar geçen süre: tipik değer ve en kötü %10'luk dilim.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8034528" y="3429000"/>
            <a:ext cx="3422904" cy="1508760"/>
          </a:xfrm>
          <a:prstGeom prst="roundRect">
            <a:avLst>
              <a:gd name="adj" fmla="val 4242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17408" y="3575304"/>
            <a:ext cx="3057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" kern="0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Tarama Hızı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17408" y="3840480"/>
            <a:ext cx="3057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 FPS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217408" y="4233672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katmanının kullandığımız donanımda saniyede tarayabildiği kare sayısı.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sonuçlar bir test videosuyla yaptığımız koşuma dayanıyor. Olay seviyesinde duyarlılık (recall), yanlış alarm sayısı ve zaman damgası sapması gibi metrikler için etiketli bir hold-out test seti üzerinde ayrı bir protokol yürütüyoruz.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561320" y="5623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ontent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0896"/>
            <a:ext cx="10725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KAPANIŞ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50292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Sahada Fark Yaratan, Güvenilir Bir Sistem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31520" y="1207008"/>
            <a:ext cx="5134356" cy="1207008"/>
          </a:xfrm>
          <a:prstGeom prst="roundRect">
            <a:avLst>
              <a:gd name="adj" fmla="val 6061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08176" y="1335024"/>
            <a:ext cx="42748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Yüksek Güvenilirlik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08176" y="1655064"/>
            <a:ext cx="42748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test koşumuzda 0.92 güven skoruyla doğru tespit, %100 hatasız ajan yönetimi.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323076" y="1207008"/>
            <a:ext cx="5134356" cy="1207008"/>
          </a:xfrm>
          <a:prstGeom prst="roundRect">
            <a:avLst>
              <a:gd name="adj" fmla="val 6061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5956" y="1371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12" name="Text 9"/>
          <p:cNvSpPr/>
          <p:nvPr/>
        </p:nvSpPr>
        <p:spPr>
          <a:xfrm>
            <a:off x="6505956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99732" y="1335024"/>
            <a:ext cx="42748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Açıklanabilirlik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99732" y="1655064"/>
            <a:ext cx="42748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kararın arkasında somut bir kanıt karesi, bir gerekçe cümlesi ve bir güven skoru var.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31520" y="2578608"/>
            <a:ext cx="5134356" cy="1207008"/>
          </a:xfrm>
          <a:prstGeom prst="roundRect">
            <a:avLst>
              <a:gd name="adj" fmla="val 6061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2743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08176" y="2706624"/>
            <a:ext cx="42748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Zamana Yayılan Farkındalık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408176" y="3026664"/>
            <a:ext cx="42748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Sahneyi tek bir kareyle değil, başlangıç-gelişim-sonuç akışıyla okuyoruz; periyodik tarama sayesinde hiç etiketlemediğimiz tehlikeleri de yakalıyoruz.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6323076" y="2578608"/>
            <a:ext cx="5134356" cy="1207008"/>
          </a:xfrm>
          <a:prstGeom prst="roundRect">
            <a:avLst>
              <a:gd name="adj" fmla="val 6061"/>
            </a:avLst>
          </a:prstGeom>
          <a:solidFill>
            <a:srgbClr val="F3F5F9"/>
          </a:solidFill>
          <a:ln w="12700">
            <a:solidFill>
              <a:srgbClr val="DE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05956" y="2743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090A"/>
          </a:solidFill>
          <a:ln/>
        </p:spPr>
      </p:sp>
      <p:sp>
        <p:nvSpPr>
          <p:cNvPr id="22" name="Text 19"/>
          <p:cNvSpPr/>
          <p:nvPr/>
        </p:nvSpPr>
        <p:spPr>
          <a:xfrm>
            <a:off x="6505956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99732" y="2706624"/>
            <a:ext cx="42748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Otonomi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99732" y="3026664"/>
            <a:ext cx="42748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hiçbir zaman kendi başına kritik bir aksiyon tetiklemez; son söz her zaman operatörde kalır.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731520" y="3986784"/>
            <a:ext cx="10725912" cy="0"/>
          </a:xfrm>
          <a:prstGeom prst="line">
            <a:avLst/>
          </a:prstGeom>
          <a:noFill/>
          <a:ln w="12700">
            <a:solidFill>
              <a:srgbClr val="DE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123944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0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kaynak:  </a:t>
            </a:r>
            <a:pPr algn="ctr"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kodumuz Apache 2.0 lisansıyla, GitHub Organization altında ve BilisimVadisi2026 etiketiyle paylaşılıyor.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31520" y="449884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3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TUNGAR-Guard</a:t>
            </a: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731520" y="4956048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40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için teşekkür ederiz — TUNGAR AI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561320" y="56235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2026-08-28T02:52:02Z</dcterms:created>
  <dcterms:modified xsi:type="dcterms:W3CDTF">2026-08-28T02:52:02Z</dcterms:modified>
</cp:coreProperties>
</file>